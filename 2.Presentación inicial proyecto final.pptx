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47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PRESENTADOR: Bienvenidos. Este proyecto analiza la crisis de vivienda estudiantil en Valencia y presenta Roomatch como solución. Tiempo: 30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esfuerzo económico familiar ha superado el umbral ODS del 30% de forma continua. El precio medio m² es 15€, y el 48% de la renta se destina al alquiler — el doble del umbral. Tiempo: 45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alquiler residencial domina con el 80%. El precio mensual subió de 615€ a 1.165€. Hay un incremento constante y pronunciado desde 2015. Tiempo: 30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alquiler supera los bonos del estado en todos los distritos. Hay una transformación de locales comerciales en residencial. La emancipación en Valencia capital cae mientras la periferia crece. Tiempo: 30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48% de la renta se destina al alquiler, superando el umbral del 30%. El índice de tensión es 0,6 (por debajo del crítico 5), pero el esfuerzo económico sigue siendo insostenible. Tiempo: 30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precio de habitación estudiantil pasó de 265€ (2014) a 522€ (2025). Desde 2020 supera la beca MEC. Todos los perfiles de inquilino sufren mayor esfuerzo económico. Tiempo: 30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distritos con escasez crítica están a menos de 1,6 km de la universidad. Hay solo 5 pisos de media por distrito. El precio medio en zonas universitarias es 614€ — superando la beca. Tiempo: 30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mapa muestra la presión habitacional por distrito. Los puntos rojos (críticos) se concentran en el centro, donde también están las universidades. Tiempo: 30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Roomatch cubre el 30% de la demanda estudiantil en Valencia. La tasa de conversión de matches a contratos es del 70,6%. La plataforma conecta estudiantes con vivienda asequible de forma eficiente. Tiempo: 45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La crisis es real, estructural y afecta especialmente a los estudiantes. Roomatch es una solución concreta, medible y escalable que conecta oferta y demanda de forma eficiente. Gracias. Tiempo: 30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" y="3406"/>
            <a:ext cx="4425696" cy="5113827"/>
          </a:xfrm>
          <a:prstGeom prst="rect">
            <a:avLst/>
          </a:prstGeom>
          <a:solidFill>
            <a:srgbClr val="1A2E44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20040" y="123913"/>
            <a:ext cx="1399395" cy="482600"/>
          </a:xfrm>
          <a:prstGeom prst="rect">
            <a:avLst/>
          </a:prstGeom>
          <a:solidFill>
            <a:srgbClr val="F7931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61872" y="300701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Vinculados: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12860" y="3308266"/>
            <a:ext cx="873676" cy="279238"/>
          </a:xfrm>
          <a:prstGeom prst="rect">
            <a:avLst/>
          </a:prstGeom>
          <a:solidFill>
            <a:srgbClr val="E524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41630" y="320136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la Pobreza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72283" y="3314699"/>
            <a:ext cx="942317" cy="263445"/>
          </a:xfrm>
          <a:prstGeom prst="rect">
            <a:avLst/>
          </a:prstGeom>
          <a:solidFill>
            <a:srgbClr val="4C9F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556614" y="3327185"/>
            <a:ext cx="988248" cy="200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y Bienestar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88336" y="3291093"/>
            <a:ext cx="942317" cy="296412"/>
          </a:xfrm>
          <a:prstGeom prst="rect">
            <a:avLst/>
          </a:prstGeom>
          <a:solidFill>
            <a:srgbClr val="A2194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676558" y="3299733"/>
            <a:ext cx="971020" cy="219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Decente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141" y="3687587"/>
            <a:ext cx="835086" cy="293875"/>
          </a:xfrm>
          <a:prstGeom prst="rect">
            <a:avLst/>
          </a:prstGeom>
          <a:solidFill>
            <a:srgbClr val="DD136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20035" y="3620865"/>
            <a:ext cx="866500" cy="395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Desig.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591752" y="3687588"/>
            <a:ext cx="905256" cy="275909"/>
          </a:xfrm>
          <a:prstGeom prst="rect">
            <a:avLst/>
          </a:prstGeom>
          <a:solidFill>
            <a:srgbClr val="FD9D2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572283" y="3540443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Ciudades Sost.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3780" y="4069080"/>
            <a:ext cx="36009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 : Proyecto y Análisis de Datos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: Pablo Simó · Paula Ibáñez · Francisco Ureña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·Christian Maldonado · Mauro Salvatierra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37160"/>
            <a:ext cx="4581144" cy="484632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21" name="Shape 18"/>
          <p:cNvSpPr/>
          <p:nvPr/>
        </p:nvSpPr>
        <p:spPr>
          <a:xfrm>
            <a:off x="4471416" y="3314700"/>
            <a:ext cx="4581144" cy="1691640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4480560" y="33375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Crisis estudiantil por la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demanda de pisos en Valencia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52628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ODS · Plataforma Roomatch</a:t>
            </a:r>
            <a:endParaRPr lang="en-US" sz="1600" b="1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F4026A27-CD5E-29CE-BEC3-CEB5DA475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10" y="57150"/>
            <a:ext cx="1289025" cy="5729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D74F4C78-3F34-2B39-D353-CF09ADAD7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355" y="654664"/>
            <a:ext cx="4142629" cy="23254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9144000" cy="777240"/>
          </a:xfrm>
          <a:prstGeom prst="rect">
            <a:avLst/>
          </a:prstGeom>
          <a:solidFill>
            <a:srgbClr val="1A2E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INTRODUCCIÓN AL PROBLEMA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01168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23444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54864" cy="1234440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02412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93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15 €/m²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medio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 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029968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EUR/m²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43200" cy="123444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54864" cy="123444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37560" y="102412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375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 destinada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alquiler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029968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Umbral: 30%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743200" cy="123444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6172200" y="960120"/>
            <a:ext cx="54864" cy="1234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309360" y="102412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+88%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309360" y="1600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precio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2014–2025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029968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615€ a 1.165€/mes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2286000"/>
            <a:ext cx="5120640" cy="260604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20040" y="2331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Esfuerzo Económico (2014–2024)</a:t>
            </a:r>
            <a:endParaRPr lang="en-US" sz="10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606040"/>
            <a:ext cx="5029200" cy="21031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486400" y="2286000"/>
            <a:ext cx="3429000" cy="260604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557784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Calor: Precio Distritos</a:t>
            </a:r>
            <a:endParaRPr lang="en-US" sz="10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606040"/>
            <a:ext cx="3337560" cy="21031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9144000" cy="777240"/>
          </a:xfrm>
          <a:prstGeom prst="rect">
            <a:avLst/>
          </a:prstGeom>
          <a:solidFill>
            <a:srgbClr val="1A2E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DE MERCADO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64592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14800" cy="393192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Tipo de Alquiler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4023360" cy="2560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886200"/>
            <a:ext cx="164592" cy="164592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85800" y="38862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Residencial 80%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114800"/>
            <a:ext cx="164592" cy="164592"/>
          </a:xfrm>
          <a:prstGeom prst="rect">
            <a:avLst/>
          </a:prstGeom>
          <a:solidFill>
            <a:srgbClr val="E882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85800" y="41148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Turístico 9.9%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4343400"/>
            <a:ext cx="164592" cy="164592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85800" y="4343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Estudiantil 10.1%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0" y="960120"/>
            <a:ext cx="4343400" cy="393192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Precio Mensual 2014–2025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280160"/>
            <a:ext cx="4251960" cy="2560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663440" y="3886200"/>
            <a:ext cx="4160520" cy="777240"/>
          </a:xfrm>
          <a:prstGeom prst="rect">
            <a:avLst/>
          </a:prstGeom>
          <a:solidFill>
            <a:srgbClr val="F7931E">
              <a:alpha val="15000"/>
            </a:srgbClr>
          </a:solidFill>
          <a:ln w="12700">
            <a:solidFill>
              <a:srgbClr val="F7931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>
            <a:off x="4663440" y="397764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615€ (2014) → 1.165€ (2025)  |  +89% en 11 años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9144000" cy="777240"/>
          </a:xfrm>
          <a:prstGeom prst="rect">
            <a:avLst/>
          </a:prstGeom>
          <a:solidFill>
            <a:srgbClr val="1A2E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DINÁMICA FINANCIERA DEL MERCADO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37744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297680" cy="205740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 Alquiler vs Bonos Estado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16152"/>
            <a:ext cx="4206240" cy="1691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914400"/>
            <a:ext cx="4297680" cy="205740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4846320" y="9601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 vs Días en Mercado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16152"/>
            <a:ext cx="420624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82880" y="3063240"/>
            <a:ext cx="4297680" cy="205740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274320" y="3108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 Comerciales → Uso Residencial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364992"/>
            <a:ext cx="4206240" cy="16916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754880" y="3063240"/>
            <a:ext cx="4297680" cy="205740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1"/>
          <p:cNvSpPr/>
          <p:nvPr/>
        </p:nvSpPr>
        <p:spPr>
          <a:xfrm>
            <a:off x="4846320" y="3108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Emancipación Capital vs Éxodo Periferia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364992"/>
            <a:ext cx="4206240" cy="1691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9144000" cy="777240"/>
          </a:xfrm>
          <a:prstGeom prst="rect">
            <a:avLst/>
          </a:prstGeom>
          <a:solidFill>
            <a:srgbClr val="1A2E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TENSIÓN DE MERCADO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55448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943600" cy="393192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Económico vs Índice de Tensión por Barrio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5852160" cy="3383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960120"/>
            <a:ext cx="2514600" cy="182880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400800" y="960120"/>
            <a:ext cx="54864" cy="18288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6537960" y="1143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48%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6537960" y="1874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 en Alquiler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Valencia 2025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3796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Umbral: 30%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0" y="2971800"/>
            <a:ext cx="2514600" cy="182880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6400800" y="2971800"/>
            <a:ext cx="54864" cy="182880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6537960" y="3154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0,6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6537960" y="3886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Tensión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2025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37960" y="4434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crítico: &gt;5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9144000" cy="777240"/>
          </a:xfrm>
          <a:prstGeom prst="rect">
            <a:avLst/>
          </a:prstGeom>
          <a:solidFill>
            <a:srgbClr val="1A2E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FOCO SOCIAL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00584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686800" cy="457200"/>
          </a:xfrm>
          <a:prstGeom prst="rect">
            <a:avLst/>
          </a:prstGeom>
          <a:solidFill>
            <a:srgbClr val="E63946">
              <a:alpha val="20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Desde 2020, el precio medio de la habitación estudiantil SUPERA la beca MEC de 350€/mes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463040"/>
            <a:ext cx="5120640" cy="342900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 MEC vs Precio Habitación Estudiante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783080"/>
            <a:ext cx="5029200" cy="2834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577840" y="1463040"/>
            <a:ext cx="3337560" cy="342900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5669280" y="1508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Económico por Perfil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783080"/>
            <a:ext cx="3246120" cy="2834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8600" y="489204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 · Joven Profesional · Familia — todos afectados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9144000" cy="777240"/>
          </a:xfrm>
          <a:prstGeom prst="rect">
            <a:avLst/>
          </a:prstGeom>
          <a:solidFill>
            <a:srgbClr val="1A2E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ACCESIBILIDAD PARA ESTUDIANTES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28600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651760" cy="77724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93268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93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614€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0" y="9601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medio mensual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universitarias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51760" cy="77724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46120" y="93268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93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9601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media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distrito crítico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51760" cy="77724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172200" y="93268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93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1.616m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498080" y="960120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media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universidad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1783080"/>
            <a:ext cx="8686800" cy="324612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20040" y="18288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Escasez Crítica de Pisos para Estudiantes por Distrito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103120"/>
            <a:ext cx="8595360" cy="2743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182880" y="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 DE PRESIÓN HABITACIONAL · VALENCIA 2025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371600" y="4480560"/>
            <a:ext cx="274320" cy="2743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69164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08960" y="4480560"/>
            <a:ext cx="274320" cy="274320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42900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4480560"/>
            <a:ext cx="274320" cy="274320"/>
          </a:xfrm>
          <a:prstGeom prst="rect">
            <a:avLst/>
          </a:prstGeom>
          <a:solidFill>
            <a:srgbClr val="FFC3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516636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0" y="4480560"/>
            <a:ext cx="274320" cy="27432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90372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82880" y="477316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niveles críticos se concentran en el centro de Valencia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9144000" cy="777240"/>
          </a:xfrm>
          <a:prstGeom prst="rect">
            <a:avLst/>
          </a:prstGeom>
          <a:solidFill>
            <a:srgbClr val="1A2E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ROOMATCH: NUESTRA SOLUCIÓN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0" y="91440"/>
            <a:ext cx="1188720" cy="640080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0" y="914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01168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2651760" cy="86868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" y="960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Conversión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→ Anuncios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71800" y="100584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9BB0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154680" y="914400"/>
            <a:ext cx="2651760" cy="86868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246120" y="960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793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45.6%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4612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Conversión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 → Matches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97880" y="100584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9BB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80760" y="914400"/>
            <a:ext cx="2651760" cy="86868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72200" y="960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C6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70.6%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7220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Conversión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→ Contratos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1920240"/>
            <a:ext cx="4297680" cy="137160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20040" y="19659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· Matches · Anuncios · Contratos</a:t>
            </a:r>
            <a:endParaRPr lang="en-US" sz="9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20240"/>
            <a:ext cx="3513909" cy="132588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617720" y="1920240"/>
            <a:ext cx="4297680" cy="137160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4709160" y="19659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Tasas de Conversión</a:t>
            </a:r>
            <a:endParaRPr lang="en-US" sz="9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569" y="1975104"/>
            <a:ext cx="3170231" cy="118872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15000000" y="4983480"/>
            <a:ext cx="8686800" cy="274320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2"/>
          <p:cNvSpPr/>
          <p:nvPr/>
        </p:nvSpPr>
        <p:spPr>
          <a:xfrm>
            <a:off x="15000000" y="19659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Absorción</a:t>
            </a:r>
            <a:endParaRPr lang="en-US" sz="9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0000" y="2221992"/>
            <a:ext cx="1737360" cy="2423160"/>
          </a:xfrm>
          <a:prstGeom prst="rect">
            <a:avLst/>
          </a:prstGeom>
        </p:spPr>
      </p:pic>
      <p:sp>
        <p:nvSpPr>
          <p:cNvPr id="60" name="Shape BL"/>
          <p:cNvSpPr/>
          <p:nvPr/>
        </p:nvSpPr>
        <p:spPr>
          <a:xfrm>
            <a:off x="228600" y="3383280"/>
            <a:ext cx="4297680" cy="155448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Label BL"/>
          <p:cNvSpPr/>
          <p:nvPr/>
        </p:nvSpPr>
        <p:spPr>
          <a:xfrm>
            <a:off x="320040" y="34290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931E"/>
                </a:solidFill>
                <a:latin typeface="Calibri" pitchFamily="34" charset="0"/>
              </a:rPr>
              <a:t>Precio Habitación vs Beca MEC</a:t>
            </a:r>
          </a:p>
        </p:txBody>
      </p:sp>
      <p:pic>
        <p:nvPicPr>
          <p:cNvPr id="62" name="Image B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429000"/>
            <a:ext cx="3513909" cy="1280160"/>
          </a:xfrm>
          <a:prstGeom prst="rect">
            <a:avLst/>
          </a:prstGeom>
        </p:spPr>
      </p:pic>
      <p:sp>
        <p:nvSpPr>
          <p:cNvPr id="63" name="Shape BR"/>
          <p:cNvSpPr/>
          <p:nvPr/>
        </p:nvSpPr>
        <p:spPr>
          <a:xfrm>
            <a:off x="4617720" y="3383280"/>
            <a:ext cx="4297680" cy="155448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4" name="Label BR"/>
          <p:cNvSpPr/>
          <p:nvPr/>
        </p:nvSpPr>
        <p:spPr>
          <a:xfrm>
            <a:off x="4709160" y="34290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931E"/>
                </a:solidFill>
                <a:latin typeface="Calibri" pitchFamily="34" charset="0"/>
              </a:rPr>
              <a:t>Índice de Absorción Demanda</a:t>
            </a:r>
          </a:p>
        </p:txBody>
      </p:sp>
      <p:pic>
        <p:nvPicPr>
          <p:cNvPr id="65" name="Image B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996" y="3429000"/>
            <a:ext cx="3187804" cy="12801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BB0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A2E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228600" y="2743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896112"/>
            <a:ext cx="1463040" cy="36576"/>
          </a:xfrm>
          <a:prstGeom prst="rect">
            <a:avLst/>
          </a:prstGeom>
          <a:solidFill>
            <a:srgbClr val="F793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82880" y="1097280"/>
            <a:ext cx="4343400" cy="64008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822960" cy="640080"/>
          </a:xfrm>
          <a:prstGeom prst="rect">
            <a:avLst/>
          </a:prstGeom>
          <a:solidFill>
            <a:srgbClr val="F7931E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82880" y="10972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+89%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143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han subido desde 2014 hasta 2025, superando el umbral ODS.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847088"/>
            <a:ext cx="4343400" cy="64008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82880" y="1847088"/>
            <a:ext cx="822960" cy="640080"/>
          </a:xfrm>
          <a:prstGeom prst="rect">
            <a:avLst/>
          </a:prstGeom>
          <a:solidFill>
            <a:srgbClr val="E63946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82880" y="184708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89280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de habitación estudiantil supera la beca MEC desde 2020.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596896"/>
            <a:ext cx="4343400" cy="64008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82880" y="2596896"/>
            <a:ext cx="822960" cy="640080"/>
          </a:xfrm>
          <a:prstGeom prst="rect">
            <a:avLst/>
          </a:prstGeom>
          <a:solidFill>
            <a:srgbClr val="00B4D8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82880" y="259689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1.6km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64261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Distritos críticos a &lt;1,6 km de las universidades UPV y UV.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3346704"/>
            <a:ext cx="4343400" cy="64008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182880" y="3346704"/>
            <a:ext cx="822960" cy="640080"/>
          </a:xfrm>
          <a:prstGeom prst="rect">
            <a:avLst/>
          </a:prstGeom>
          <a:solidFill>
            <a:srgbClr val="FFC300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82880" y="334670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39242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renta familiar se destina al alquiler — umbral crítico.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4096512"/>
            <a:ext cx="4343400" cy="640080"/>
          </a:xfrm>
          <a:prstGeom prst="rect">
            <a:avLst/>
          </a:prstGeom>
          <a:solidFill>
            <a:srgbClr val="162438"/>
          </a:solidFill>
          <a:ln w="6350">
            <a:solidFill>
              <a:srgbClr val="1E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182880" y="4096512"/>
            <a:ext cx="822960" cy="640080"/>
          </a:xfrm>
          <a:prstGeom prst="rect">
            <a:avLst/>
          </a:prstGeom>
          <a:solidFill>
            <a:srgbClr val="2DC653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82880" y="409651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14223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Roomatch absorbe la demanda y convierte el 70% de matches en contratos.</a:t>
            </a:r>
            <a:endParaRPr lang="en-US" sz="11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4846320" y="523404"/>
            <a:ext cx="4160520" cy="228600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27" name="Shape 24"/>
          <p:cNvSpPr/>
          <p:nvPr/>
        </p:nvSpPr>
        <p:spPr>
          <a:xfrm>
            <a:off x="4882896" y="3129444"/>
            <a:ext cx="4160520" cy="1714680"/>
          </a:xfrm>
          <a:prstGeom prst="rect">
            <a:avLst/>
          </a:prstGeom>
          <a:solidFill>
            <a:srgbClr val="F7931E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4846320" y="342900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Encuentra tu piso.</a:t>
            </a:r>
            <a:endParaRPr lang="en-US" sz="3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Encuentra tu gente.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4846320" y="402336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estudiantes con vivienda asequible en Valencia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46320" y="449884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Matching Habitacional Estudiantil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852</Words>
  <Application>Microsoft Office PowerPoint</Application>
  <PresentationFormat>Presentación en pantalla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Crisis estudiantil por la demanda de pisos en Valencia</dc:title>
  <dc:subject>PptxGenJS Presentation</dc:subject>
  <dc:creator>Roomatch - Universidad Europea Valencia</dc:creator>
  <cp:lastModifiedBy>PABLO SIMO ANDRES</cp:lastModifiedBy>
  <cp:revision>2</cp:revision>
  <dcterms:created xsi:type="dcterms:W3CDTF">2026-05-23T14:53:52Z</dcterms:created>
  <dcterms:modified xsi:type="dcterms:W3CDTF">2026-05-23T16:15:57Z</dcterms:modified>
</cp:coreProperties>
</file>